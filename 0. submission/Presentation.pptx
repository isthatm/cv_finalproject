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grandir Bold" charset="1" panose="00000800000000000000"/>
      <p:regular r:id="rId12"/>
    </p:embeddedFont>
    <p:embeddedFont>
      <p:font typeface="Nunito" charset="1" panose="00000000000000000000"/>
      <p:regular r:id="rId13"/>
    </p:embeddedFont>
    <p:embeddedFont>
      <p:font typeface="Agrandir Wide Bold" charset="1" panose="00000805000000000000"/>
      <p:regular r:id="rId14"/>
    </p:embeddedFont>
    <p:embeddedFont>
      <p:font typeface="Nunito Bold" charset="1" panose="00000000000000000000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- Raw loss is noise (small batch size due to limited GPU resource and sampling step) (authors has a batch size of 4)</a:t>
            </a:r>
          </a:p>
          <a:p>
            <a:r>
              <a:rPr lang="en-US"/>
              <a:t>- Smooth versions overall, shows a  decline</a:t>
            </a:r>
          </a:p>
          <a:p>
            <a:r>
              <a:rPr lang="en-US"/>
              <a:t>- Total loss is dominated by object &amp; defect loss (local peaks at step 250 &amp; 450 is reflected on the total loss)</a:t>
            </a:r>
          </a:p>
          <a:p>
            <a:r>
              <a:rPr lang="en-US"/>
              <a:t>- Defect loss decrease steadily but increase after 150 steps -&gt; does not fully converge after 150 steps (authors ran for 2000 steps) OR the minima has been missed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BOTTLE</a:t>
            </a:r>
          </a:p>
          <a:p>
            <a:r>
              <a:rPr lang="en-US"/>
              <a:t>-broken_large looks the most convincing. Reflective glass texture blends naturally with the bottle interior.</a:t>
            </a:r>
          </a:p>
          <a:p>
            <a:r>
              <a:rPr lang="en-US"/>
              <a:t/>
            </a:r>
          </a:p>
          <a:p>
            <a:r>
              <a:rPr lang="en-US"/>
              <a:t>- broken_small presents a small chip near the edge, but the green color makes it less realistic generation</a:t>
            </a:r>
          </a:p>
          <a:p>
            <a:r>
              <a:rPr lang="en-US"/>
              <a:t/>
            </a:r>
          </a:p>
          <a:p>
            <a:r>
              <a:rPr lang="en-US"/>
              <a:t>- contamination is least realistic:</a:t>
            </a:r>
          </a:p>
          <a:p>
            <a:r>
              <a:rPr lang="en-US"/>
              <a:t/>
            </a:r>
          </a:p>
          <a:p>
            <a:r>
              <a:rPr lang="en-US"/>
              <a:t>+ There are many types of contaminations within a defect type -&gt; The model is trained on an inconsistent mix and never converge to a coherent concept.</a:t>
            </a:r>
          </a:p>
          <a:p>
            <a:r>
              <a:rPr lang="en-US"/>
              <a:t/>
            </a:r>
          </a:p>
          <a:p>
            <a:r>
              <a:rPr lang="en-US"/>
              <a:t>LEATHER</a:t>
            </a:r>
          </a:p>
          <a:p>
            <a:r>
              <a:rPr lang="en-US"/>
              <a:t>- poke is the best result: dark, small dot with gradient color at its orifice</a:t>
            </a:r>
          </a:p>
          <a:p>
            <a:r>
              <a:rPr lang="en-US"/>
              <a:t>- Fold also shows an exposed material underneath, would have been a better generation for cut</a:t>
            </a:r>
          </a:p>
          <a:p>
            <a:r>
              <a:rPr lang="en-US"/>
              <a:t>+ Possible reason, same mask shape for both categories -&gt; mix between cut &amp; fold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43430"/>
            <a:ext cx="12398079" cy="200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2"/>
              </a:lnSpc>
            </a:pPr>
            <a:r>
              <a:rPr lang="en-US" b="true" sz="6265" spc="106">
                <a:solidFill>
                  <a:srgbClr val="30387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DEFECT GENERATION WITH STABLE DIFFUSION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467799"/>
            <a:ext cx="6594356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Minh 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2948357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8861" y="3671384"/>
            <a:ext cx="4474302" cy="1582806"/>
          </a:xfrm>
          <a:custGeom>
            <a:avLst/>
            <a:gdLst/>
            <a:ahLst/>
            <a:cxnLst/>
            <a:rect r="r" b="b" t="t" l="l"/>
            <a:pathLst>
              <a:path h="1582806" w="4474302">
                <a:moveTo>
                  <a:pt x="0" y="0"/>
                </a:moveTo>
                <a:lnTo>
                  <a:pt x="4474302" y="0"/>
                </a:lnTo>
                <a:lnTo>
                  <a:pt x="4474302" y="1582807"/>
                </a:lnTo>
                <a:lnTo>
                  <a:pt x="0" y="1582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8861" y="2001506"/>
            <a:ext cx="4474302" cy="1573477"/>
          </a:xfrm>
          <a:custGeom>
            <a:avLst/>
            <a:gdLst/>
            <a:ahLst/>
            <a:cxnLst/>
            <a:rect r="r" b="b" t="t" l="l"/>
            <a:pathLst>
              <a:path h="1573477" w="4474302">
                <a:moveTo>
                  <a:pt x="0" y="0"/>
                </a:moveTo>
                <a:lnTo>
                  <a:pt x="4474302" y="0"/>
                </a:lnTo>
                <a:lnTo>
                  <a:pt x="4474302" y="1573477"/>
                </a:lnTo>
                <a:lnTo>
                  <a:pt x="0" y="1573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8861" y="5425201"/>
            <a:ext cx="4474302" cy="1573964"/>
          </a:xfrm>
          <a:custGeom>
            <a:avLst/>
            <a:gdLst/>
            <a:ahLst/>
            <a:cxnLst/>
            <a:rect r="r" b="b" t="t" l="l"/>
            <a:pathLst>
              <a:path h="1573964" w="4474302">
                <a:moveTo>
                  <a:pt x="0" y="0"/>
                </a:moveTo>
                <a:lnTo>
                  <a:pt x="4474302" y="0"/>
                </a:lnTo>
                <a:lnTo>
                  <a:pt x="4474302" y="1573964"/>
                </a:lnTo>
                <a:lnTo>
                  <a:pt x="0" y="157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861" y="6999165"/>
            <a:ext cx="4474302" cy="1550854"/>
          </a:xfrm>
          <a:custGeom>
            <a:avLst/>
            <a:gdLst/>
            <a:ahLst/>
            <a:cxnLst/>
            <a:rect r="r" b="b" t="t" l="l"/>
            <a:pathLst>
              <a:path h="1550854" w="4474302">
                <a:moveTo>
                  <a:pt x="0" y="0"/>
                </a:moveTo>
                <a:lnTo>
                  <a:pt x="4474302" y="0"/>
                </a:lnTo>
                <a:lnTo>
                  <a:pt x="4474302" y="1550854"/>
                </a:lnTo>
                <a:lnTo>
                  <a:pt x="0" y="1550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42508" y="5433137"/>
            <a:ext cx="8889096" cy="3655641"/>
          </a:xfrm>
          <a:custGeom>
            <a:avLst/>
            <a:gdLst/>
            <a:ahLst/>
            <a:cxnLst/>
            <a:rect r="r" b="b" t="t" l="l"/>
            <a:pathLst>
              <a:path h="3655641" w="8889096">
                <a:moveTo>
                  <a:pt x="0" y="0"/>
                </a:moveTo>
                <a:lnTo>
                  <a:pt x="8889096" y="0"/>
                </a:lnTo>
                <a:lnTo>
                  <a:pt x="8889096" y="3655640"/>
                </a:lnTo>
                <a:lnTo>
                  <a:pt x="0" y="3655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4711" y="1265325"/>
            <a:ext cx="5636965" cy="8335623"/>
          </a:xfrm>
          <a:custGeom>
            <a:avLst/>
            <a:gdLst/>
            <a:ahLst/>
            <a:cxnLst/>
            <a:rect r="r" b="b" t="t" l="l"/>
            <a:pathLst>
              <a:path h="8335623" w="5636965">
                <a:moveTo>
                  <a:pt x="0" y="0"/>
                </a:moveTo>
                <a:lnTo>
                  <a:pt x="5636965" y="0"/>
                </a:lnTo>
                <a:lnTo>
                  <a:pt x="5636965" y="8335623"/>
                </a:lnTo>
                <a:lnTo>
                  <a:pt x="0" y="83356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4414" y="266700"/>
            <a:ext cx="1042246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DATASET: MVTEC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42508" y="2108568"/>
            <a:ext cx="9021359" cy="179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b="true" sz="23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&gt; 5000 images</a:t>
            </a: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High resolution (700x700 to 1024x1024)</a:t>
            </a: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b="true" sz="23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70</a:t>
            </a: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different defects</a:t>
            </a:r>
          </a:p>
          <a:p>
            <a:pPr algn="l">
              <a:lnSpc>
                <a:spcPts val="36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742508" y="3836784"/>
            <a:ext cx="9021359" cy="88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~1260 images contain defects (1/4 of the dataset)</a:t>
            </a: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Great defects </a:t>
            </a:r>
            <a:r>
              <a:rPr lang="en-US" b="true" sz="23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imbalance </a:t>
            </a: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among objects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2584" y="4568162"/>
            <a:ext cx="11762832" cy="4838943"/>
          </a:xfrm>
          <a:custGeom>
            <a:avLst/>
            <a:gdLst/>
            <a:ahLst/>
            <a:cxnLst/>
            <a:rect r="r" b="b" t="t" l="l"/>
            <a:pathLst>
              <a:path h="4838943" w="11762832">
                <a:moveTo>
                  <a:pt x="0" y="0"/>
                </a:moveTo>
                <a:lnTo>
                  <a:pt x="11762832" y="0"/>
                </a:lnTo>
                <a:lnTo>
                  <a:pt x="11762832" y="4838943"/>
                </a:lnTo>
                <a:lnTo>
                  <a:pt x="0" y="4838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23042" y="3825365"/>
            <a:ext cx="6743758" cy="548169"/>
          </a:xfrm>
          <a:custGeom>
            <a:avLst/>
            <a:gdLst/>
            <a:ahLst/>
            <a:cxnLst/>
            <a:rect r="r" b="b" t="t" l="l"/>
            <a:pathLst>
              <a:path h="548169" w="6743758">
                <a:moveTo>
                  <a:pt x="0" y="0"/>
                </a:moveTo>
                <a:lnTo>
                  <a:pt x="6743758" y="0"/>
                </a:lnTo>
                <a:lnTo>
                  <a:pt x="6743758" y="548170"/>
                </a:lnTo>
                <a:lnTo>
                  <a:pt x="0" y="54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4166" y="315334"/>
            <a:ext cx="1042246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DEFECT FILL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9710" y="1577717"/>
            <a:ext cx="13285706" cy="179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Authors use a weighted loss:</a:t>
            </a: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Defect loss: Understanding of the defect itself</a:t>
            </a: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Object loss: Object-defect relationship</a:t>
            </a: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Attention loss: Spatial guidance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4166" y="9765090"/>
            <a:ext cx="407839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Ref: https://arxiv.org/abs/2503.13985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6678" y="2080161"/>
            <a:ext cx="9290314" cy="5736769"/>
          </a:xfrm>
          <a:custGeom>
            <a:avLst/>
            <a:gdLst/>
            <a:ahLst/>
            <a:cxnLst/>
            <a:rect r="r" b="b" t="t" l="l"/>
            <a:pathLst>
              <a:path h="5736769" w="9290314">
                <a:moveTo>
                  <a:pt x="0" y="0"/>
                </a:moveTo>
                <a:lnTo>
                  <a:pt x="9290315" y="0"/>
                </a:lnTo>
                <a:lnTo>
                  <a:pt x="9290315" y="5736769"/>
                </a:lnTo>
                <a:lnTo>
                  <a:pt x="0" y="5736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4166" y="315334"/>
            <a:ext cx="1042246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TRAINING PERFORMANCE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63001" y="7869473"/>
            <a:ext cx="3832487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18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Figure. </a:t>
            </a:r>
            <a:r>
              <a:rPr lang="en-US" sz="1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Training loss for ‘bottle’ class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6189" y="2321035"/>
            <a:ext cx="7463108" cy="499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General decline across all 4 losses</a:t>
            </a:r>
          </a:p>
          <a:p>
            <a:pPr algn="l">
              <a:lnSpc>
                <a:spcPts val="3671"/>
              </a:lnSpc>
            </a:pP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Attetion loss oscillates with minor decline</a:t>
            </a:r>
          </a:p>
          <a:p>
            <a:pPr algn="l" marL="1036317" indent="-345439" lvl="2">
              <a:lnSpc>
                <a:spcPts val="3671"/>
              </a:lnSpc>
              <a:buFont typeface="Arial"/>
              <a:buChar char="⚬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⟶ Small contribution to the total loss</a:t>
            </a:r>
          </a:p>
          <a:p>
            <a:pPr algn="l">
              <a:lnSpc>
                <a:spcPts val="3671"/>
              </a:lnSpc>
            </a:pP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Total loss is dominated by object and defect loss</a:t>
            </a:r>
          </a:p>
          <a:p>
            <a:pPr algn="l">
              <a:lnSpc>
                <a:spcPts val="3671"/>
              </a:lnSpc>
            </a:pP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Defect loss decrease steadily and bounced back after 150 epochs</a:t>
            </a:r>
          </a:p>
          <a:p>
            <a:pPr algn="l" marL="1036317" indent="-345439" lvl="2">
              <a:lnSpc>
                <a:spcPts val="3671"/>
              </a:lnSpc>
              <a:buFont typeface="Arial"/>
              <a:buChar char="⚬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⟶ The model does not fully converge after 500 steps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4166" y="2495286"/>
            <a:ext cx="8060042" cy="5178577"/>
          </a:xfrm>
          <a:custGeom>
            <a:avLst/>
            <a:gdLst/>
            <a:ahLst/>
            <a:cxnLst/>
            <a:rect r="r" b="b" t="t" l="l"/>
            <a:pathLst>
              <a:path h="5178577" w="8060042">
                <a:moveTo>
                  <a:pt x="0" y="0"/>
                </a:moveTo>
                <a:lnTo>
                  <a:pt x="8060042" y="0"/>
                </a:lnTo>
                <a:lnTo>
                  <a:pt x="8060042" y="5178578"/>
                </a:lnTo>
                <a:lnTo>
                  <a:pt x="0" y="5178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6080" y="2375133"/>
            <a:ext cx="8162394" cy="4856624"/>
          </a:xfrm>
          <a:custGeom>
            <a:avLst/>
            <a:gdLst/>
            <a:ahLst/>
            <a:cxnLst/>
            <a:rect r="r" b="b" t="t" l="l"/>
            <a:pathLst>
              <a:path h="4856624" w="8162394">
                <a:moveTo>
                  <a:pt x="0" y="0"/>
                </a:moveTo>
                <a:lnTo>
                  <a:pt x="8162394" y="0"/>
                </a:lnTo>
                <a:lnTo>
                  <a:pt x="8162394" y="4856624"/>
                </a:lnTo>
                <a:lnTo>
                  <a:pt x="0" y="4856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4166" y="315334"/>
            <a:ext cx="134674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QUALITATIVE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472" y="7895313"/>
            <a:ext cx="7322736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18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Figure. </a:t>
            </a:r>
            <a:r>
              <a:rPr lang="en-US" sz="1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Qualitative results for bottle and leather defects generation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36564" y="7646502"/>
            <a:ext cx="7322736" cy="65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18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Figure. </a:t>
            </a:r>
            <a:r>
              <a:rPr lang="en-US" sz="1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Ablation study: sample generations from 4 different bottle models, each with a type of loss ablated.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3706" y="6668442"/>
            <a:ext cx="10580587" cy="2962564"/>
          </a:xfrm>
          <a:custGeom>
            <a:avLst/>
            <a:gdLst/>
            <a:ahLst/>
            <a:cxnLst/>
            <a:rect r="r" b="b" t="t" l="l"/>
            <a:pathLst>
              <a:path h="2962564" w="10580587">
                <a:moveTo>
                  <a:pt x="0" y="0"/>
                </a:moveTo>
                <a:lnTo>
                  <a:pt x="10580588" y="0"/>
                </a:lnTo>
                <a:lnTo>
                  <a:pt x="10580588" y="2962564"/>
                </a:lnTo>
                <a:lnTo>
                  <a:pt x="0" y="2962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4166" y="315334"/>
            <a:ext cx="134674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QUANTITATIVE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80087" y="6314112"/>
            <a:ext cx="3527826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0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Table. </a:t>
            </a:r>
            <a:r>
              <a:rPr lang="en-US" sz="2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Benchmark evaluation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60475" y="1480746"/>
            <a:ext cx="14143405" cy="453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Leather has the best performance, regarding diversity (IC-LPIPS) and realism (LPIPS &amp; FID)</a:t>
            </a:r>
          </a:p>
          <a:p>
            <a:pPr algn="l">
              <a:lnSpc>
                <a:spcPts val="3671"/>
              </a:lnSpc>
            </a:pP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All 4 variations for bottle peform nearly identically </a:t>
            </a:r>
          </a:p>
          <a:p>
            <a:pPr algn="l" marL="1036317" indent="-345439" lvl="2">
              <a:lnSpc>
                <a:spcPts val="3671"/>
              </a:lnSpc>
              <a:buFont typeface="Arial"/>
              <a:buChar char="⚬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⟶ Ablation has no measurable impact in this setting</a:t>
            </a:r>
          </a:p>
          <a:p>
            <a:pPr algn="l" marL="1036317" indent="-345439" lvl="2">
              <a:lnSpc>
                <a:spcPts val="3671"/>
              </a:lnSpc>
              <a:buFont typeface="Arial"/>
              <a:buChar char="⚬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⟶ Ablated attention has the lowest FID, attention loss may not be useful at this scale</a:t>
            </a:r>
          </a:p>
          <a:p>
            <a:pPr algn="l">
              <a:lnSpc>
                <a:spcPts val="3671"/>
              </a:lnSpc>
            </a:pPr>
          </a:p>
          <a:p>
            <a:pPr algn="l" marL="518158" indent="-259079" lvl="1">
              <a:lnSpc>
                <a:spcPts val="3671"/>
              </a:lnSpc>
              <a:buFont typeface="Arial"/>
              <a:buChar char="•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Based on the numerical metrics, </a:t>
            </a:r>
            <a:r>
              <a:rPr lang="en-US" b="true" sz="23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</a:t>
            </a:r>
            <a:r>
              <a:rPr lang="en-US" b="true" sz="23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y implementation outperforms author’s</a:t>
            </a: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. That’s definitely not true in practice, due to:</a:t>
            </a:r>
          </a:p>
          <a:p>
            <a:pPr algn="l" marL="1036317" indent="-345439" lvl="2">
              <a:lnSpc>
                <a:spcPts val="3671"/>
              </a:lnSpc>
              <a:buFont typeface="Arial"/>
              <a:buChar char="⚬"/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Lack of an </a:t>
            </a:r>
            <a:r>
              <a:rPr lang="en-US" b="true" sz="23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official implementation</a:t>
            </a: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for DefectFill ⟶ Different evaluation settings, model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DAHLZInnsP0</dc:identifier>
  <dcterms:modified xsi:type="dcterms:W3CDTF">2011-08-01T06:04:30Z</dcterms:modified>
  <cp:revision>1</cp:revision>
  <dc:title>CV_FinalAssignment</dc:title>
</cp:coreProperties>
</file>